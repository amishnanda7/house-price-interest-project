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183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28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08404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16644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56708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08828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31848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96126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96856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4460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28530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65361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31569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220094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399835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049720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84125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257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146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5AFEB-6DB5-43CE-B968-69C08FE70ED7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CCDC4E38-D83B-43FD-A8E3-492BE309A6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277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1977" y="1458944"/>
            <a:ext cx="8600047" cy="1102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600" dirty="0"/>
              <a:t>Predicting Los Angeles Home Values Using</a:t>
            </a:r>
          </a:p>
          <a:p>
            <a:pPr marL="0" indent="0" algn="ctr">
              <a:lnSpc>
                <a:spcPts val="4300"/>
              </a:lnSpc>
              <a:buNone/>
            </a:pPr>
            <a:r>
              <a:rPr lang="en-US" sz="3600" dirty="0"/>
              <a:t> Mortgage Interest Rates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2114550" y="2667180"/>
            <a:ext cx="49149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of Mortgage Rates on Housing Trends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3500438" y="3227356"/>
            <a:ext cx="2143125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3500438" y="3227356"/>
            <a:ext cx="2143125" cy="7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Text 4"/>
          <p:cNvSpPr/>
          <p:nvPr/>
        </p:nvSpPr>
        <p:spPr>
          <a:xfrm>
            <a:off x="4032647" y="3373803"/>
            <a:ext cx="10787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Amish Nanda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090690" y="3580972"/>
            <a:ext cx="96262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300408947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3919240" y="3788141"/>
            <a:ext cx="130552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CSIS-4260-002</a:t>
            </a:r>
            <a:endParaRPr lang="en-US" sz="1193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571500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71575"/>
            <a:ext cx="8001000" cy="14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5387693" cy="3792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72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Predicting Next Month's Home Value</a:t>
            </a:r>
            <a:endParaRPr lang="en-US" sz="2436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46647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5825" y="1743075"/>
            <a:ext cx="78938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571500" y="2064544"/>
            <a:ext cx="3568303" cy="438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next month’s Los Angeles home value mortgage rates and lagged housing variables.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82503"/>
            <a:ext cx="225028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0828" y="2878931"/>
            <a:ext cx="100905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571500" y="3200400"/>
            <a:ext cx="35683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Merged Zillow housing trends with FRED 30-year fixed mortgage rates.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197" y="1746647"/>
            <a:ext cx="200025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18522" y="1743075"/>
            <a:ext cx="63758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</a:t>
            </a:r>
            <a:endParaRPr lang="en-US" sz="1193" dirty="0"/>
          </a:p>
        </p:txBody>
      </p:sp>
      <p:sp>
        <p:nvSpPr>
          <p:cNvPr id="14" name="Text 8"/>
          <p:cNvSpPr/>
          <p:nvPr/>
        </p:nvSpPr>
        <p:spPr>
          <a:xfrm>
            <a:off x="5004197" y="2064544"/>
            <a:ext cx="35683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Evaluated Linear Regression against Random Forest for trend extrapolation.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4197" y="2882503"/>
            <a:ext cx="250031" cy="2000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68528" y="2878931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193" dirty="0"/>
          </a:p>
        </p:txBody>
      </p:sp>
      <p:sp>
        <p:nvSpPr>
          <p:cNvPr id="17" name="Text 10"/>
          <p:cNvSpPr/>
          <p:nvPr/>
        </p:nvSpPr>
        <p:spPr>
          <a:xfrm>
            <a:off x="5004197" y="3200400"/>
            <a:ext cx="35683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Streamlit application for real-time inference and visualization.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571500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71575"/>
            <a:ext cx="8001000" cy="14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72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High-Quality Data from Zillow and FRED</a:t>
            </a:r>
            <a:endParaRPr lang="en-US" sz="2436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0219"/>
            <a:ext cx="257175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2975" y="1743075"/>
            <a:ext cx="172164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Zillow Metro ZHVI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571500" y="2200275"/>
            <a:ext cx="1000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1571625" y="2200275"/>
            <a:ext cx="25681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Zillow Research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71500" y="2586038"/>
            <a:ext cx="1000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1571625" y="2586038"/>
            <a:ext cx="25681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71500" y="2971800"/>
            <a:ext cx="1000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1571625" y="2971800"/>
            <a:ext cx="913712" cy="198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Value (LA)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197" y="1750219"/>
            <a:ext cx="17145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89947" y="1743075"/>
            <a:ext cx="224849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FRED MORTGAGE30US</a:t>
            </a:r>
            <a:endParaRPr lang="en-US" sz="1397" dirty="0"/>
          </a:p>
        </p:txBody>
      </p:sp>
      <p:sp>
        <p:nvSpPr>
          <p:cNvPr id="16" name="Text 11"/>
          <p:cNvSpPr/>
          <p:nvPr/>
        </p:nvSpPr>
        <p:spPr>
          <a:xfrm>
            <a:off x="5004197" y="2200275"/>
            <a:ext cx="1000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987" dirty="0"/>
          </a:p>
        </p:txBody>
      </p:sp>
      <p:sp>
        <p:nvSpPr>
          <p:cNvPr id="17" name="Text 12"/>
          <p:cNvSpPr/>
          <p:nvPr/>
        </p:nvSpPr>
        <p:spPr>
          <a:xfrm>
            <a:off x="6004322" y="2200275"/>
            <a:ext cx="25681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Federal Reserve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004197" y="2586038"/>
            <a:ext cx="1000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</a:t>
            </a:r>
            <a:endParaRPr lang="en-US" sz="987" dirty="0"/>
          </a:p>
        </p:txBody>
      </p:sp>
      <p:sp>
        <p:nvSpPr>
          <p:cNvPr id="19" name="Text 14"/>
          <p:cNvSpPr/>
          <p:nvPr/>
        </p:nvSpPr>
        <p:spPr>
          <a:xfrm>
            <a:off x="6004322" y="2586038"/>
            <a:ext cx="25681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→ Monthly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004197" y="2971800"/>
            <a:ext cx="1000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</a:t>
            </a:r>
            <a:endParaRPr lang="en-US" sz="987" dirty="0"/>
          </a:p>
        </p:txBody>
      </p:sp>
      <p:sp>
        <p:nvSpPr>
          <p:cNvPr id="21" name="Text 16"/>
          <p:cNvSpPr/>
          <p:nvPr/>
        </p:nvSpPr>
        <p:spPr>
          <a:xfrm>
            <a:off x="6004322" y="2971800"/>
            <a:ext cx="25681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30-Year Fixed Mortgage Rate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571500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71575"/>
            <a:ext cx="8001000" cy="14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72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Transforming Raw Data into a Unified Pipeline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600200"/>
            <a:ext cx="257175" cy="257175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600200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942975" y="1600200"/>
            <a:ext cx="3193256" cy="428625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Los Angeles, CA metro area from national data.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571500" y="2200275"/>
            <a:ext cx="257175" cy="257175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20027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942975" y="2200275"/>
            <a:ext cx="3193256" cy="428625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Zillow's wide format into a time-series long format using </a:t>
            </a:r>
            <a:r>
              <a:rPr lang="en-US" sz="885" b="1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pd.melt()</a:t>
            </a:r>
            <a:r>
              <a:rPr lang="en-US" sz="942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571500" y="2800350"/>
            <a:ext cx="257175" cy="257175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2800350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942975" y="2800350"/>
            <a:ext cx="3193256" cy="428625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Averaged weekly mortgage rates to align with monthly housing data.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571500" y="3400425"/>
            <a:ext cx="257175" cy="257175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340042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942975" y="3400425"/>
            <a:ext cx="3193256" cy="22679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Joined both datasets by date to create the final modelling dataset</a:t>
            </a:r>
            <a:endParaRPr lang="en-US" sz="942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671638"/>
            <a:ext cx="3571875" cy="250031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03329" y="4257675"/>
            <a:ext cx="316646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Transformation: Reshaping and Cleaning with Pandas</a:t>
            </a:r>
            <a:endParaRPr lang="en-US" sz="834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571500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71575"/>
            <a:ext cx="8001000" cy="14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72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Lagged Variables Capture Market Momentum</a:t>
            </a:r>
            <a:endParaRPr lang="en-US" sz="2436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7344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600200"/>
            <a:ext cx="95190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 (X)</a:t>
            </a:r>
            <a:endParaRPr lang="en-US" sz="1397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28825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0100" y="1985963"/>
            <a:ext cx="271641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month ZHVI and Mortgage Rate.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43150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0100" y="2300288"/>
            <a:ext cx="324504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Lag-1: Previous month ZHVI and Mortgage Rate.</a:t>
            </a:r>
            <a:endParaRPr lang="en-US" sz="1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9320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2786063"/>
            <a:ext cx="93940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(y)</a:t>
            </a:r>
            <a:endParaRPr lang="en-US" sz="1397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14688"/>
            <a:ext cx="114300" cy="1143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00100" y="3171825"/>
            <a:ext cx="31361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month's ZHVI (1-step ahead forecasting).</a:t>
            </a:r>
            <a:endParaRPr lang="en-US" sz="10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1671638"/>
            <a:ext cx="3571875" cy="214312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464969" y="3900488"/>
            <a:ext cx="264318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Structure: Modular Features &amp; Notebooks</a:t>
            </a:r>
            <a:endParaRPr lang="en-US" sz="834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571500"/>
            <a:ext cx="8001000" cy="5686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25838"/>
            <a:ext cx="8001000" cy="14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72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 Trends and Rate Volatility</a:t>
            </a:r>
            <a:endParaRPr lang="en-US" sz="2436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00910"/>
            <a:ext cx="228600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697338"/>
            <a:ext cx="60543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571500" y="2018807"/>
            <a:ext cx="3568303" cy="457200"/>
          </a:xfrm>
          <a:prstGeom prst="rect">
            <a:avLst/>
          </a:prstGeom>
          <a:noFill/>
          <a:ln/>
        </p:spPr>
        <p:txBody>
          <a:bodyPr wrap="square" lIns="40817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home values show consistent long-term appreciation with strong demand.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65329"/>
            <a:ext cx="228600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761757"/>
            <a:ext cx="71973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Volatility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571500" y="3083226"/>
            <a:ext cx="3568303" cy="457200"/>
          </a:xfrm>
          <a:prstGeom prst="rect">
            <a:avLst/>
          </a:prstGeom>
          <a:noFill/>
          <a:ln/>
        </p:spPr>
        <p:txBody>
          <a:bodyPr wrap="square" lIns="40817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Mortgage rates exhibit sharp fluctuations, especially post-2022.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197" y="1700910"/>
            <a:ext cx="228600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47097" y="1697338"/>
            <a:ext cx="1021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</a:t>
            </a:r>
            <a:endParaRPr lang="en-US" sz="1193" dirty="0"/>
          </a:p>
        </p:txBody>
      </p:sp>
      <p:sp>
        <p:nvSpPr>
          <p:cNvPr id="14" name="Text 8"/>
          <p:cNvSpPr/>
          <p:nvPr/>
        </p:nvSpPr>
        <p:spPr>
          <a:xfrm>
            <a:off x="5004198" y="2018807"/>
            <a:ext cx="2433832" cy="438518"/>
          </a:xfrm>
          <a:prstGeom prst="rect">
            <a:avLst/>
          </a:prstGeom>
          <a:noFill/>
          <a:ln/>
        </p:spPr>
        <p:txBody>
          <a:bodyPr wrap="square" lIns="40817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relationship was not perfectly simple so more models were tested.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571500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71575"/>
            <a:ext cx="8001000" cy="14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72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Preserving Time Order for Realistic Evaluation</a:t>
            </a:r>
            <a:endParaRPr lang="en-US" sz="2436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0219"/>
            <a:ext cx="200025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5825" y="1743075"/>
            <a:ext cx="114478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Details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571500" y="2200275"/>
            <a:ext cx="848711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1420211" y="2200275"/>
            <a:ext cx="1106221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2526432" y="2200275"/>
            <a:ext cx="1613371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685800" y="2730698"/>
            <a:ext cx="34825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1420211" y="2609255"/>
            <a:ext cx="1106221" cy="41255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249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526432" y="2609255"/>
            <a:ext cx="1613371" cy="41255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Older history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85800" y="3139678"/>
            <a:ext cx="29646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987" dirty="0"/>
          </a:p>
        </p:txBody>
      </p:sp>
      <p:sp>
        <p:nvSpPr>
          <p:cNvPr id="15" name="Text 11"/>
          <p:cNvSpPr/>
          <p:nvPr/>
        </p:nvSpPr>
        <p:spPr>
          <a:xfrm>
            <a:off x="1420211" y="3021806"/>
            <a:ext cx="1106221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526432" y="3021806"/>
            <a:ext cx="1613371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recent</a:t>
            </a:r>
            <a:endParaRPr lang="en-US" sz="10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197" y="1750219"/>
            <a:ext cx="17145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89947" y="1743075"/>
            <a:ext cx="80724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1397" dirty="0"/>
          </a:p>
        </p:txBody>
      </p:sp>
      <p:sp>
        <p:nvSpPr>
          <p:cNvPr id="19" name="Text 14"/>
          <p:cNvSpPr/>
          <p:nvPr/>
        </p:nvSpPr>
        <p:spPr>
          <a:xfrm>
            <a:off x="5004197" y="2200275"/>
            <a:ext cx="3568303" cy="4572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Chronological Split:</a:t>
            </a: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random shuffling to maintain sequence.</a:t>
            </a:r>
            <a:endParaRPr lang="en-US" sz="987" dirty="0"/>
          </a:p>
        </p:txBody>
      </p:sp>
      <p:sp>
        <p:nvSpPr>
          <p:cNvPr id="20" name="Text 15"/>
          <p:cNvSpPr/>
          <p:nvPr/>
        </p:nvSpPr>
        <p:spPr>
          <a:xfrm>
            <a:off x="5004197" y="2828925"/>
            <a:ext cx="3568303" cy="4572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Mirror:</a:t>
            </a: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Training on the past, testing on the future.</a:t>
            </a:r>
            <a:endParaRPr lang="en-US" sz="987" dirty="0"/>
          </a:p>
        </p:txBody>
      </p:sp>
      <p:sp>
        <p:nvSpPr>
          <p:cNvPr id="21" name="Text 16"/>
          <p:cNvSpPr/>
          <p:nvPr/>
        </p:nvSpPr>
        <p:spPr>
          <a:xfrm>
            <a:off x="5004197" y="3457575"/>
            <a:ext cx="3568303" cy="207686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data Leakage:</a:t>
            </a: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Future data was not used during training.</a:t>
            </a:r>
            <a:endParaRPr lang="en-US" sz="987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197" y="2228850"/>
            <a:ext cx="142875" cy="228600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197" y="2857500"/>
            <a:ext cx="142875" cy="228600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197" y="3486150"/>
            <a:ext cx="142875" cy="22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571500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71575"/>
            <a:ext cx="8001000" cy="14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72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Superior Accuracy with Linear Modeling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600200"/>
            <a:ext cx="1893233" cy="40540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2464733" y="1600200"/>
            <a:ext cx="1671498" cy="40540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2005608"/>
            <a:ext cx="1893233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 Score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2579033" y="2123480"/>
            <a:ext cx="49827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0.9982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2414588"/>
            <a:ext cx="1893233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2579033" y="2532459"/>
            <a:ext cx="49470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$2,365</a:t>
            </a:r>
            <a:endParaRPr lang="en-US" sz="987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70027"/>
            <a:ext cx="114300" cy="114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1525" y="3041452"/>
            <a:ext cx="24538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error relative to property values.</a:t>
            </a:r>
            <a:endParaRPr lang="en-US" sz="942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64343"/>
            <a:ext cx="114300" cy="114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1525" y="3335768"/>
            <a:ext cx="313610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the long-term upward trajectory perfectly.</a:t>
            </a:r>
            <a:endParaRPr lang="en-US" sz="942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58660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1525" y="3630085"/>
            <a:ext cx="25074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Highly reliable for short-term forecasting.</a:t>
            </a:r>
            <a:endParaRPr lang="en-US" sz="942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1671638"/>
            <a:ext cx="3571875" cy="25003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80149" y="4257675"/>
            <a:ext cx="261282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vs. Predicted: Exceptional Trend Tracking</a:t>
            </a:r>
            <a:endParaRPr lang="en-US" sz="834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571500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71575"/>
            <a:ext cx="8001000" cy="14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72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Complexity Fails to Capture Growth Trends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743075"/>
            <a:ext cx="1768720" cy="40540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2340220" y="1743075"/>
            <a:ext cx="1799583" cy="40540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2148483"/>
            <a:ext cx="1768720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 Score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2454520" y="2266355"/>
            <a:ext cx="5286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-8.8291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2557463"/>
            <a:ext cx="1768720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2454520" y="2675334"/>
            <a:ext cx="91797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Sub-baseline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571500" y="3255764"/>
            <a:ext cx="356830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produced flat predictions, failing to capture the significant market uptrend.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5004197" y="1743075"/>
            <a:ext cx="3568303" cy="189309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Shape 11"/>
          <p:cNvSpPr/>
          <p:nvPr/>
        </p:nvSpPr>
        <p:spPr>
          <a:xfrm>
            <a:off x="5004197" y="1743075"/>
            <a:ext cx="28575" cy="1893094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509" y="1975247"/>
            <a:ext cx="171450" cy="1714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75684" y="1957388"/>
            <a:ext cx="15859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Extrapolation Issue</a:t>
            </a:r>
            <a:endParaRPr lang="en-US" sz="1193" dirty="0"/>
          </a:p>
        </p:txBody>
      </p:sp>
      <p:sp>
        <p:nvSpPr>
          <p:cNvPr id="17" name="Text 13"/>
          <p:cNvSpPr/>
          <p:nvPr/>
        </p:nvSpPr>
        <p:spPr>
          <a:xfrm>
            <a:off x="5218509" y="2278856"/>
            <a:ext cx="3139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struggles to predict values beyond the training range. Since LA home values were trending upward, the ensemble mechanism could not project into unseen higher price levels.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571500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71575"/>
            <a:ext cx="8001000" cy="14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72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Simplicity Wins for Trended Data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743075"/>
            <a:ext cx="1736545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2308045" y="1743075"/>
            <a:ext cx="970852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3278898" y="1743075"/>
            <a:ext cx="860906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571500" y="2152055"/>
            <a:ext cx="3568303" cy="412552"/>
          </a:xfrm>
          <a:prstGeom prst="rect">
            <a:avLst/>
          </a:prstGeom>
          <a:solidFill>
            <a:srgbClr val="059669">
              <a:alpha val="1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152055"/>
            <a:ext cx="1736545" cy="41255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Regression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2308045" y="2152055"/>
            <a:ext cx="970852" cy="41255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$2,365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3278898" y="2152055"/>
            <a:ext cx="860906" cy="41255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0.9982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71500" y="2564606"/>
            <a:ext cx="1736545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308045" y="2564606"/>
            <a:ext cx="970852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$198,713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278898" y="2564606"/>
            <a:ext cx="860906" cy="40898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-8.83</a:t>
            </a:r>
            <a:endParaRPr lang="en-US" sz="10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197" y="1760934"/>
            <a:ext cx="192881" cy="1714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82803" y="1743075"/>
            <a:ext cx="71794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193" dirty="0"/>
          </a:p>
        </p:txBody>
      </p:sp>
      <p:sp>
        <p:nvSpPr>
          <p:cNvPr id="18" name="Text 14"/>
          <p:cNvSpPr/>
          <p:nvPr/>
        </p:nvSpPr>
        <p:spPr>
          <a:xfrm>
            <a:off x="5004197" y="2035969"/>
            <a:ext cx="3568303" cy="378619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Linear Regression for deployment.</a:t>
            </a:r>
            <a:endParaRPr lang="en-US" sz="1090" dirty="0"/>
          </a:p>
        </p:txBody>
      </p:sp>
      <p:sp>
        <p:nvSpPr>
          <p:cNvPr id="19" name="Shape 15"/>
          <p:cNvSpPr/>
          <p:nvPr/>
        </p:nvSpPr>
        <p:spPr>
          <a:xfrm>
            <a:off x="5004197" y="2700338"/>
            <a:ext cx="3568303" cy="1635919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Shape 16"/>
          <p:cNvSpPr/>
          <p:nvPr/>
        </p:nvSpPr>
        <p:spPr>
          <a:xfrm>
            <a:off x="5004197" y="2700338"/>
            <a:ext cx="28575" cy="1635919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7"/>
          <p:cNvSpPr/>
          <p:nvPr/>
        </p:nvSpPr>
        <p:spPr>
          <a:xfrm>
            <a:off x="5218509" y="2914650"/>
            <a:ext cx="31396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</a:t>
            </a:r>
            <a:endParaRPr lang="en-US" sz="1193" dirty="0"/>
          </a:p>
        </p:txBody>
      </p:sp>
      <p:sp>
        <p:nvSpPr>
          <p:cNvPr id="22" name="Text 18"/>
          <p:cNvSpPr/>
          <p:nvPr/>
        </p:nvSpPr>
        <p:spPr>
          <a:xfrm>
            <a:off x="5218509" y="3207544"/>
            <a:ext cx="31396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Housing trends are dominated by momentum. Linear models track this growth best, whereas complexity can lead to poor extrapolation.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571500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71575"/>
            <a:ext cx="8001000" cy="14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6716582" cy="3792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 err="1">
                <a:solidFill>
                  <a:srgbClr val="27272A"/>
                </a:solidFill>
                <a:latin typeface="Playfair Display" pitchFamily="34" charset="0"/>
              </a:rPr>
              <a:t>StreamLit</a:t>
            </a:r>
            <a:r>
              <a:rPr lang="en-US" sz="2436" b="1" dirty="0">
                <a:solidFill>
                  <a:srgbClr val="27272A"/>
                </a:solidFill>
                <a:latin typeface="Playfair Display" pitchFamily="34" charset="0"/>
              </a:rPr>
              <a:t> app for Prediction and Visualization</a:t>
            </a:r>
            <a:endParaRPr lang="en-US" sz="2436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7344"/>
            <a:ext cx="17145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7250" y="1600200"/>
            <a:ext cx="169664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Functionality</a:t>
            </a:r>
            <a:endParaRPr lang="en-US" sz="1397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28825"/>
            <a:ext cx="144661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30461" y="1985963"/>
            <a:ext cx="29485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current rates and values for instant forecasts.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43175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4388" y="2500313"/>
            <a:ext cx="295572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actual vs. predicted trend charts.</a:t>
            </a:r>
            <a:endParaRPr lang="en-US" sz="1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57500"/>
            <a:ext cx="144661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30461" y="2814638"/>
            <a:ext cx="25324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summary of model metrics.</a:t>
            </a:r>
            <a:endParaRPr lang="en-US" sz="1050" dirty="0"/>
          </a:p>
        </p:txBody>
      </p:sp>
      <p:sp>
        <p:nvSpPr>
          <p:cNvPr id="14" name="Text 7"/>
          <p:cNvSpPr/>
          <p:nvPr/>
        </p:nvSpPr>
        <p:spPr>
          <a:xfrm>
            <a:off x="571500" y="3157538"/>
            <a:ext cx="32075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User-friendly interface for non-technical stakeholders.</a:t>
            </a:r>
            <a:endParaRPr lang="en-US" sz="10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3438" y="1671638"/>
            <a:ext cx="3929063" cy="250031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198864" y="4257675"/>
            <a:ext cx="28182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Application: Predictive Interface for LA Housing</a:t>
            </a:r>
            <a:endParaRPr lang="en-US" sz="834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37573" y="571500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71575"/>
            <a:ext cx="8001000" cy="14288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469"/>
            <a:ext cx="828567" cy="73650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01638" y="647552"/>
            <a:ext cx="3089562" cy="298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44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</a:rPr>
              <a:t>Conclusion</a:t>
            </a:r>
            <a:endParaRPr lang="en-US" sz="4400" dirty="0"/>
          </a:p>
        </p:txBody>
      </p:sp>
      <p:pic>
        <p:nvPicPr>
          <p:cNvPr id="24" name="Picture 23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B78E955E-0B99-4E50-6DFC-968D254C9B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640"/>
          <a:stretch/>
        </p:blipFill>
        <p:spPr>
          <a:xfrm>
            <a:off x="199912" y="2715491"/>
            <a:ext cx="3539830" cy="1492322"/>
          </a:xfrm>
          <a:prstGeom prst="rect">
            <a:avLst/>
          </a:prstGeom>
        </p:spPr>
      </p:pic>
      <p:pic>
        <p:nvPicPr>
          <p:cNvPr id="26" name="Picture 25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53699AB2-C817-402F-7174-4431CF7CA0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1141"/>
          <a:stretch/>
        </p:blipFill>
        <p:spPr>
          <a:xfrm>
            <a:off x="3611712" y="2715492"/>
            <a:ext cx="3597270" cy="1492322"/>
          </a:xfrm>
          <a:prstGeom prst="rect">
            <a:avLst/>
          </a:prstGeom>
        </p:spPr>
      </p:pic>
      <p:sp>
        <p:nvSpPr>
          <p:cNvPr id="27" name="Rectangle 1">
            <a:extLst>
              <a:ext uri="{FF2B5EF4-FFF2-40B4-BE49-F238E27FC236}">
                <a16:creationId xmlns:a16="http://schemas.microsoft.com/office/drawing/2014/main" id="{EAFED0DE-59AB-00DA-EE74-D1A767DFF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79" y="1105072"/>
            <a:ext cx="7851385" cy="1056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Successfully merged Zillow and FRED datasets by date              Built and compared Linear Regression and Random Forest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Linear Regression performed best with R² = 0.9982                    </a:t>
            </a:r>
            <a:r>
              <a:rPr kumimoji="0" lang="en-US" altLang="en-US" sz="12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Streamlit</a:t>
            </a:r>
            <a:r>
              <a:rPr kumimoji="0" lang="en-US" altLang="en-US" sz="1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 app made the project interactive and practical </a:t>
            </a:r>
          </a:p>
        </p:txBody>
      </p:sp>
    </p:spTree>
    <p:extLst>
      <p:ext uri="{BB962C8B-B14F-4D97-AF65-F5344CB8AC3E}">
        <p14:creationId xmlns:p14="http://schemas.microsoft.com/office/powerpoint/2010/main" val="20857564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571500"/>
            <a:ext cx="8001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71575"/>
            <a:ext cx="8001000" cy="14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72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Key Learnings and Future Directions</a:t>
            </a:r>
            <a:endParaRPr lang="en-US" sz="2436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0219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743075"/>
            <a:ext cx="108227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Takeaways</a:t>
            </a:r>
            <a:endParaRPr lang="en-US" sz="1397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43138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8675" y="2200275"/>
            <a:ext cx="331112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High-accuracy forecasting achieved via simple, robust linear modeling.</a:t>
            </a:r>
            <a:endParaRPr lang="en-US" sz="1159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86075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8675" y="2843213"/>
            <a:ext cx="331112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 and feature engineering outweigh model complexity.</a:t>
            </a:r>
            <a:endParaRPr lang="en-US" sz="1159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29013"/>
            <a:ext cx="142875" cy="142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8675" y="3486150"/>
            <a:ext cx="331112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Streamlit app successfully bridged technical results and practical use</a:t>
            </a:r>
            <a:endParaRPr lang="en-US" sz="1159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197" y="1750219"/>
            <a:ext cx="257175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375672" y="1743075"/>
            <a:ext cx="128230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</a:t>
            </a:r>
            <a:endParaRPr lang="en-US" sz="1397" dirty="0"/>
          </a:p>
        </p:txBody>
      </p:sp>
      <p:sp>
        <p:nvSpPr>
          <p:cNvPr id="16" name="Shape 8"/>
          <p:cNvSpPr/>
          <p:nvPr/>
        </p:nvSpPr>
        <p:spPr>
          <a:xfrm>
            <a:off x="5004197" y="2200275"/>
            <a:ext cx="3568303" cy="166449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9"/>
          <p:cNvSpPr/>
          <p:nvPr/>
        </p:nvSpPr>
        <p:spPr>
          <a:xfrm>
            <a:off x="5004197" y="2200275"/>
            <a:ext cx="28575" cy="166449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0"/>
          <p:cNvSpPr/>
          <p:nvPr/>
        </p:nvSpPr>
        <p:spPr>
          <a:xfrm>
            <a:off x="5218509" y="2414588"/>
            <a:ext cx="1383392" cy="193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</a:rPr>
              <a:t>Future Improvements</a:t>
            </a:r>
            <a:endParaRPr lang="en-US" sz="1193" dirty="0"/>
          </a:p>
        </p:txBody>
      </p:sp>
      <p:sp>
        <p:nvSpPr>
          <p:cNvPr id="19" name="Text 11"/>
          <p:cNvSpPr/>
          <p:nvPr/>
        </p:nvSpPr>
        <p:spPr>
          <a:xfrm>
            <a:off x="5218509" y="2736056"/>
            <a:ext cx="31396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to multiple cities, integrate more economic indicators (inflation, supply), and explore deep learning (LSTM) for deeper forecasting.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</TotalTime>
  <Words>620</Words>
  <Application>Microsoft Office PowerPoint</Application>
  <PresentationFormat>On-screen Show (16:9)</PresentationFormat>
  <Paragraphs>136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Inter</vt:lpstr>
      <vt:lpstr>Playfair Display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Nanda, Amish</cp:lastModifiedBy>
  <cp:revision>11</cp:revision>
  <dcterms:created xsi:type="dcterms:W3CDTF">2026-04-07T00:05:49Z</dcterms:created>
  <dcterms:modified xsi:type="dcterms:W3CDTF">2026-04-07T00:39:13Z</dcterms:modified>
</cp:coreProperties>
</file>